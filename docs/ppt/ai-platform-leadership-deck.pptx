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1 页｜项目背景与汇报结论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9377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5720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当前老项目已经进入“维护成本持续上升、扩展效率持续下降”的阶段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本次建议不是简单技术重写，而是借重构机会统一平台底座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以 `SakurA Admin` 为基础，逐步建设 AI 自动化研发平台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架构耦合高，改动影响范围大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基础能力分散，账号、权限、日志、文件、调度等未统一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自动化依赖脚本、Jenkins 和人工流程，难沉淀、难复制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能力无法真正进入研发流程，只能停留在工具级使用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以当前 `SakurA Admin` 作为老项目重构底座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先完成平台底座统一，再承接老业务迁移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逐步构建覆盖需求、设计、开发、测试、交付的 AI 自动化研发平台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建议采用当前架构推进重构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短期解决治理与维护问题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中长期形成平台资产和 AI 研发能力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5989320" cy="4937760"/>
          </a:xfrm>
          <a:prstGeom prst="roundRect">
            <a:avLst/>
          </a:prstGeom>
          <a:solidFill>
            <a:srgbClr val="F2E9FA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A3FA6"/>
                </a:solidFill>
                <a:latin typeface="Microsoft YaHei"/>
              </a:rPr>
              <a:t>本页重点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当前老项目已经进入“维护成本持续上升、扩展效率持续下降”的阶段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本次建议不是简单技术重写，而是借重构机会统一平台底座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以 `SakurA Admin` 为基础，逐步建设 AI 自动化研发平台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架构耦合高，改动影响范围大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基础能力分散，账号、权限、日志、文件、调度等未统一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自动化依赖脚本、Jenkins 和人工流程，难沉淀、难复制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讲解要点：这次汇报的重点不是讨论要不要换一套新技术，而是希望解决老项目已经暴露出来的结构性问题。我们建议以当前已经具备基础能力的 `SakurA Admin` 架构为底座，完成老项目的平台化重构，并为后续 AI 自动化研发平台建设打基础。 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2 页｜为什么老项目必须重构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9377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5720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继续在老架构上修补，成本会越来越高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当前问题已经从“功能问题”演变成“平台能力问题”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业务耦合重，改一处牵一片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模块边界不清，重复逻辑较多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项目、版本、环境、服务器、数据库等关键信息分散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自动化能力缺少统一入口和资产沉淀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新成员接手成本高，知识依赖个人经验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开发效率继续下降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维护风险持续放大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自动化投入无法形成长期资产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能力难以规模化落地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统一底座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统一主数据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统一自动化能力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统一流程链路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5989320" cy="4937760"/>
          </a:xfrm>
          <a:prstGeom prst="roundRect">
            <a:avLst/>
          </a:prstGeom>
          <a:solidFill>
            <a:srgbClr val="F2E9FA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A3FA6"/>
                </a:solidFill>
                <a:latin typeface="Microsoft YaHei"/>
              </a:rPr>
              <a:t>本页重点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继续在老架构上修补，成本会越来越高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当前问题已经从“功能问题”演变成“平台能力问题”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业务耦合重，改一处牵一片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模块边界不清，重复逻辑较多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项目、版本、环境、服务器、数据库等关键信息分散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自动化能力缺少统一入口和资产沉淀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讲解要点：如果继续在老项目上做增量修补，短期看似快，长期会越来越贵。因为问题已经不是几个功能模块不好用，而是系统缺少统一平台能力。尤其未来要做 AI，如果没有统一项目上下文、流程节点和执行链路，AI 就只能停留在零散助手层面。 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3 页｜为什么选当前架构作为重构底座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9377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5720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当前项目不是空架构，而是已经具备平台底座与业务雏形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采用现有架构可降低重构风险、缩短落地周期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用户、角色、菜单、权限、日志、文件、通知等系统能力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Sa-Token 认证鉴权体系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统一响应、统一异常、统一日志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Redis、MyBatis Plus、Liquibase、OpenAPI 文档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Docker 化部署和调度扩展能力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`continew-project`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项目、版本、模块、环境、服务器、数据库管理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`continew-automation`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自动化项目、节点、Jenkins、浏览器、UI 场景/用例/步骤管理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不是从零造平台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是在已有底座上承接老业务并向 AI 平台演进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5989320" cy="4937760"/>
          </a:xfrm>
          <a:prstGeom prst="roundRect">
            <a:avLst/>
          </a:prstGeom>
          <a:solidFill>
            <a:srgbClr val="F2E9FA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A3FA6"/>
                </a:solidFill>
                <a:latin typeface="Microsoft YaHei"/>
              </a:rPr>
              <a:t>本页重点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当前项目不是空架构，而是已经具备平台底座与业务雏形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采用现有架构可降低重构风险、缩短落地周期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用户、角色、菜单、权限、日志、文件、通知等系统能力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Sa-Token 认证鉴权体系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统一响应、统一异常、统一日志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Redis、MyBatis Plus、Liquibase、OpenAPI 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我们建议采用当前架构，不是因为它“更新”，而是因为它已经具备很好的平台起点。一方面，后台通用能力已经比较完整；另一方面，项目管理和自动化管理两个核心业务中心也已经有雏形。这使得重构可以在低风险基础上推进，而不是从零开始。 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4 页｜目标定位：AI 自动化研发平台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重构后的目标不是另一个管理后台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而是一个贯通研发全流程的平台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自动化研发平台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需求管理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设计协同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开发协同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测试自动化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发布交付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过程沉淀与数据分析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项目主数据中心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自动化资源中心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调度与执行中心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权限与审计中心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助手能力层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05156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架构图</a:t>
            </a:r>
          </a:p>
        </p:txBody>
      </p:sp>
      <p:pic>
        <p:nvPicPr>
          <p:cNvPr id="9" name="Picture 8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54480"/>
            <a:ext cx="57150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讲解要点：我们的目标不是做另一个后台系统，而是构建一个覆盖需求、设计、开发、测试、交付全流程的平台。上层是业务流程中心，下层是项目主数据、自动化资源、调度执行和 AI 助手能力。未来每个研发节点都能在一个统一平台中沉淀和协同。 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5 页｜当前架构总览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当前项目已经具备实际可落地的技术与模块架构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适合作为现阶段重构底座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单体应用 + 模块化工程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独立调度服务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 API 入口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插件化扩展能力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`continew-webapi`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`continew-module-system`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`continew-common`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`continew-project`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`continew-automation`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`continew-plugin`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`continew-extension`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05156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架构图</a:t>
            </a:r>
          </a:p>
        </p:txBody>
      </p:sp>
      <p:pic>
        <p:nvPicPr>
          <p:cNvPr id="9" name="Picture 8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54480"/>
            <a:ext cx="57150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讲解要点：这是当前项目的真实可落地架构。它不是高成本的微服务拆分架构，而是更适合现阶段的平台化单体架构，兼顾开发效率、部署成本和后续扩展能力。对于当前重构阶段，这是更稳妥的选择。 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6 页｜核心模块能力拆解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9377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5720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当前项目已形成五类核心能力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可直接承接老项目重构与平台建设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用户、角色、菜单、权限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日志、通知、文件、配置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项目配置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版本配置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模块配置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环境配置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服务器配置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数据库配置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自动化项目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Jenkins 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节点配置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浏览器配置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UI 场景、用例、步骤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定时调度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5989320" cy="4937760"/>
          </a:xfrm>
          <a:prstGeom prst="roundRect">
            <a:avLst/>
          </a:prstGeom>
          <a:solidFill>
            <a:srgbClr val="F2E9FA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A3FA6"/>
                </a:solidFill>
                <a:latin typeface="Microsoft YaHei"/>
              </a:rPr>
              <a:t>本页重点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当前项目已形成五类核心能力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可直接承接老项目重构与平台建设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用户、角色、菜单、权限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日志、通知、文件、配置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项目配置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版本配置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讲解要点：这一页的重点是让管理层看到，当前项目不是只有技术底座，而是已经具备较完整的平台能力。尤其项目管理中心和自动化管理中心，是后续支撑研发流程和 AI 落地的两个关键业务核心。 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7 页｜需求到交付的流程闭环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平台建设的重点不是单点工具，而是全流程闭环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需求录入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方案设计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任务拆解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开发实现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测试验证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缺陷反馈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发布交付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结果沉淀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需求与设计阶段：项目与模块归档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开发阶段：任务、接口、脚本、版本关联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测试阶段：场景、用例、步骤、资源统一管理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交付阶段：执行调度、报告输出、结果沉淀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05156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流程图</a:t>
            </a:r>
          </a:p>
        </p:txBody>
      </p:sp>
      <p:pic>
        <p:nvPicPr>
          <p:cNvPr id="9" name="Picture 8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54480"/>
            <a:ext cx="57150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我们做这次重构，不是为了把原来的几个功能搬过来，而是为了把研发流程真正串起来。未来从需求到交付，每个节点都能够在平台上形成数据、过程和结果沉淀，从而让管理、协同和自动化都具备统一基础。 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8 页｜AI 能力如何嵌入平台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不作为独立外挂存在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而是作为流程增强能力嵌入研发全过程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需求：摘要、拆解、影响分析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设计：方案草案、接口草案、数据模型建议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开发：模板生成、脚本生成、代码辅助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测试：用例生成、数据生成、回归建议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交付：变更摘要、交付清单、报告总结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沉淀：知识归档、检索推荐、经验复用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先做低风险、高收益场景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先做辅助，再做编排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先流程标准化，再提升智能化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05156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流程图</a:t>
            </a:r>
          </a:p>
        </p:txBody>
      </p:sp>
      <p:pic>
        <p:nvPicPr>
          <p:cNvPr id="9" name="Picture 8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54480"/>
            <a:ext cx="57150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讲解要点：这里我们强调的是，AI 不是替代研发，而是增强研发。它先从需求分析、设计草案、测试用例、报告总结这些辅助型场景切入，等平台数据逐步结构化之后，再扩展到更复杂的智能编排和决策辅助能力。 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9 页｜三阶段实施路线图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9377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5720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采用渐进式落地，避免一次性大爆炸重构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统一认证、权限、日志、文件、通知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建立项目主数据中心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建立自动化资源中心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跑通调度与执行能力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映射老项目能力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打通需求、设计、开发、测试、交付链路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建立流程状态和结果沉淀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需求分析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测试生成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文档总结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知识检索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编排辅助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先平台，后业务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先承接，后优化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先标准化，后智能化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5989320" cy="4937760"/>
          </a:xfrm>
          <a:prstGeom prst="roundRect">
            <a:avLst/>
          </a:prstGeom>
          <a:solidFill>
            <a:srgbClr val="F2E9FA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A3FA6"/>
                </a:solidFill>
                <a:latin typeface="Microsoft YaHei"/>
              </a:rPr>
              <a:t>本页重点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采用渐进式落地，避免一次性大爆炸重构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统一认证、权限、日志、文件、通知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建立项目主数据中心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建立自动化资源中心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跑通调度与执行能力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映射老项目能力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讲解要点：这条路线的关键是风险可控。第一阶段先把底座站稳，第二阶段迁移老业务并打通流程，第三阶段再逐步引入 AI。这样管理层每个阶段都能看到明确成果，不会陷入一次性大重构带来的不确定性。 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10 页｜收益与决策建议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9377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5720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当前架构是兼顾短期落地和长期演进的最优路径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降低维护成本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统一底座能力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提升常规开发效率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自动化资产沉淀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流程可视化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团队协同效率提升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AI 真正融入研发流程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平台成为团队长期工程资产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支撑多项目复制和持续演进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建议采用当前 `SakurA Admin` 架构作为老项目重构底座，按“三阶段路线”推进 AI 自动化研发平台建设。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25880"/>
            <a:ext cx="5989320" cy="4937760"/>
          </a:xfrm>
          <a:prstGeom prst="roundRect">
            <a:avLst/>
          </a:prstGeom>
          <a:solidFill>
            <a:srgbClr val="F2E9FA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7A3FA6"/>
                </a:solidFill>
                <a:latin typeface="Microsoft YaHei"/>
              </a:rPr>
              <a:t>本页重点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当前架构是兼顾短期落地和长期演进的最优路径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降低维护成本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统一底座能力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提升常规开发效率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自动化资产沉淀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Microsoft YaHei"/>
              </a:rPr>
              <a:t>流程可视化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讲解要点：最后的结论很明确。采用当前架构进行重构，不是为了追求技术新，而是因为它能在短期解决老系统治理问题，在中期形成平台化效率收益，并在长期支撑 AI 自动化研发平台建设。从投入产出比看，这是比继续在老系统上修补更合理的路径。 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11 页｜加强页：测试中心专题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测试中心是平台建设中的高价值落地点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它连接开发、自动化和交付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测试用例管理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测试计划管理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测试执行管理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缺陷管理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测试报告输出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关联项目、版本、模块、环境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关联接口和自动化场景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关联调度执行和结果汇总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关联缺陷与交付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05156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流程图</a:t>
            </a:r>
          </a:p>
        </p:txBody>
      </p:sp>
      <p:pic>
        <p:nvPicPr>
          <p:cNvPr id="9" name="Picture 8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54480"/>
            <a:ext cx="57150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测试中心是非常适合优先建设的平台能力，因为它天然连接开发、自动化和交付。我们完全可以基于当前的项目中心、自动化中心和调度中心，把测试管理做成平台中的一个重点业务域，快速形成可见价值。 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12 页｜加强页：AI 研发平台蓝图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AI 平台建设不是增加一个聊天入口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而是构建“流程 + 数据 + 执行 + 知识”的一体化能力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业务流程层：需求、设计、开发、测试、交付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平台能力层：主数据、自动化、调度、审计、文件、通知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AI 智能层：生成、分析、推荐、编排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资产沉淀层：知识库、规范库、案例库、报告库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05156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架构图</a:t>
            </a:r>
          </a:p>
        </p:txBody>
      </p:sp>
      <p:pic>
        <p:nvPicPr>
          <p:cNvPr id="9" name="Picture 8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54480"/>
            <a:ext cx="57150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讲解要点：这一页想强调的是，AI 研发平台的关键不只是模型，而是平台结构本身。只有流程、数据、执行和知识四个层面都被统一起来，AI 才能真正成为平台能力，而不是一个边缘工具。 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第 13 页｜加强页：实施计划甘特图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C6C6C"/>
                </a:solidFill>
                <a:latin typeface="Microsoft YaHei"/>
              </a:rPr>
              <a:t>SakurA Admin 老项目重构与 AI 自动化研发平台建设方案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892040" cy="4480560"/>
          </a:xfrm>
          <a:prstGeom prst="roundRect">
            <a:avLst/>
          </a:prstGeom>
          <a:solidFill>
            <a:srgbClr val="FCFCFC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280160" cy="347472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48056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平台建设可分阶段推进，每阶段都有明确成果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第 1 阶段：底座建设与主数据建模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第 2 阶段：老业务迁移与流程打通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第 3 阶段：AI 助手接入与智能化增强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325880"/>
            <a:ext cx="60807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1234440" cy="347472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甘特图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548640" cy="320040"/>
          </a:xfrm>
          <a:prstGeom prst="roundRect">
            <a:avLst/>
          </a:prstGeom>
          <a:solidFill>
            <a:srgbClr val="F2E9FA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</a:rPr>
              <a:t>5月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7" y="1783080"/>
            <a:ext cx="548640" cy="320040"/>
          </a:xfrm>
          <a:prstGeom prst="roundRect">
            <a:avLst/>
          </a:prstGeom>
          <a:solidFill>
            <a:srgbClr val="F2E9FA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</a:rPr>
              <a:t>6月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9096" y="1783080"/>
            <a:ext cx="548640" cy="320040"/>
          </a:xfrm>
          <a:prstGeom prst="roundRect">
            <a:avLst/>
          </a:prstGeom>
          <a:solidFill>
            <a:srgbClr val="F2E9FA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</a:rPr>
              <a:t>7月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6024" y="1783080"/>
            <a:ext cx="548640" cy="320040"/>
          </a:xfrm>
          <a:prstGeom prst="roundRect">
            <a:avLst/>
          </a:prstGeom>
          <a:solidFill>
            <a:srgbClr val="F2E9FA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</a:rPr>
              <a:t>8月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02952" y="1783080"/>
            <a:ext cx="548640" cy="320040"/>
          </a:xfrm>
          <a:prstGeom prst="roundRect">
            <a:avLst/>
          </a:prstGeom>
          <a:solidFill>
            <a:srgbClr val="F2E9FA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</a:rPr>
              <a:t>9月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783080"/>
            <a:ext cx="548640" cy="320040"/>
          </a:xfrm>
          <a:prstGeom prst="roundRect">
            <a:avLst/>
          </a:prstGeom>
          <a:solidFill>
            <a:srgbClr val="F2E9FA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Microsoft YaHei"/>
              </a:rPr>
              <a:t>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7627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架构梳理与能力映射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76272"/>
            <a:ext cx="530352" cy="219456"/>
          </a:xfrm>
          <a:prstGeom prst="roundRect">
            <a:avLst/>
          </a:prstGeom>
          <a:solidFill>
            <a:srgbClr val="7A3FA6"/>
          </a:solidFill>
          <a:ln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523744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权限与系统底座统一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7" y="2523744"/>
            <a:ext cx="530352" cy="219456"/>
          </a:xfrm>
          <a:prstGeom prst="roundRect">
            <a:avLst/>
          </a:prstGeom>
          <a:solidFill>
            <a:srgbClr val="A466CC"/>
          </a:solidFill>
          <a:ln>
            <a:solidFill>
              <a:srgbClr val="A4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8712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项目主数据中心建设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7" y="2871215"/>
            <a:ext cx="1097280" cy="219456"/>
          </a:xfrm>
          <a:prstGeom prst="roundRect">
            <a:avLst/>
          </a:prstGeom>
          <a:solidFill>
            <a:srgbClr val="2484DB"/>
          </a:solidFill>
          <a:ln>
            <a:solidFill>
              <a:srgbClr val="248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218688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自动化资源中心建设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9096" y="3218688"/>
            <a:ext cx="1097280" cy="219456"/>
          </a:xfrm>
          <a:prstGeom prst="roundRect">
            <a:avLst/>
          </a:prstGeom>
          <a:solidFill>
            <a:srgbClr val="37A874"/>
          </a:solidFill>
          <a:ln>
            <a:solidFill>
              <a:srgbClr val="37A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356616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老项目功能拆分迁移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6024" y="3566160"/>
            <a:ext cx="1097280" cy="219456"/>
          </a:xfrm>
          <a:prstGeom prst="roundRect">
            <a:avLst/>
          </a:prstGeom>
          <a:solidFill>
            <a:srgbClr val="E38425"/>
          </a:solidFill>
          <a:ln>
            <a:solidFill>
              <a:srgbClr val="E38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3913631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流程打通与联调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3913631"/>
            <a:ext cx="530352" cy="219456"/>
          </a:xfrm>
          <a:prstGeom prst="roundRect">
            <a:avLst/>
          </a:prstGeom>
          <a:solidFill>
            <a:srgbClr val="E35E5E"/>
          </a:solidFill>
          <a:ln>
            <a:solidFill>
              <a:srgbClr val="E3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4261104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测试中心能力建设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2952" y="4261104"/>
            <a:ext cx="530352" cy="219456"/>
          </a:xfrm>
          <a:prstGeom prst="roundRect">
            <a:avLst/>
          </a:prstGeom>
          <a:solidFill>
            <a:srgbClr val="708E43"/>
          </a:solidFill>
          <a:ln>
            <a:solidFill>
              <a:srgbClr val="708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608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AI 场景设计与选型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4608576"/>
            <a:ext cx="530352" cy="219456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4956048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Microsoft YaHei"/>
              </a:rPr>
              <a:t>AI 助手一期接入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4956048"/>
            <a:ext cx="530352" cy="219456"/>
          </a:xfrm>
          <a:prstGeom prst="round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6144768"/>
            <a:ext cx="10972800" cy="502920"/>
          </a:xfrm>
          <a:prstGeom prst="roundRect">
            <a:avLst/>
          </a:prstGeom>
          <a:solidFill>
            <a:srgbClr val="F2E9FA"/>
          </a:solidFill>
          <a:ln w="12700">
            <a:solidFill>
              <a:srgbClr val="7A3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>
                <a:solidFill>
                  <a:srgbClr val="333333"/>
                </a:solidFill>
                <a:latin typeface="Microsoft YaHei"/>
              </a:rPr>
              <a:t>讲解要点：平台建设建议按三阶段推进，每个阶段都有可验收成果。这样既能控制实施风险，也能让管理层在每个阶段都看到明确价值输出，而不是一次性投入后长时间看不到结果。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